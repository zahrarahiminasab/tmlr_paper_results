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5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28BF-698C-8367-EC46-5B6F9EE9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6FA76-4869-1E23-4199-FE5D39EE1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E7872-6D31-21F8-51AC-2EFBD069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2CE06-C1B9-B811-3C75-35C52BBF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2B1E0-841F-9E49-0BAD-4D46B8E9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9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1ECF6-442F-C82E-E460-0A9EDB36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A609F-156C-C19B-BA4A-77213BE07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43F9B-1A0D-ABE8-45BE-2E6A9C43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1F48E-66B3-F3CC-59AD-1CEA6170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24752-F03D-824D-4F89-390E4497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4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1EDA-9B24-84F2-60C3-D97CAFABE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DBA7C-61A9-CBF3-BB76-F6CC2806E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34CEE-E68B-DFA4-F1CA-1AC3C5D8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24139-2B48-D83E-E0EF-A3F90DA2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2F7C6-92A9-8438-1378-A3AD39D3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4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75CE-EF4C-77B4-4A6B-F37276D9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0AB96-ED75-1F0A-E981-13FB5F089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C2CA4-2300-53EA-BA8A-7EE3B5BF0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3E026-F333-A073-544E-0345BEEE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283C-4183-D115-E5B6-BFC0EB6A3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0553A-CE66-4200-190D-2AAE0B65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3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0C97-87D5-68A2-F9C2-B101AB18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7B9EB-6CFE-06D7-7DBB-68031AC32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11906-552C-DDB4-A07A-B6F1A6BF1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56FA5-B463-0594-2122-C777D0223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3E17F5-BC24-5FB1-CE4D-87C3E2C21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6C9E8-2145-AD5D-2E20-4C81321A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D4D502-887D-464A-A5D7-28D19DAC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D8B42-6155-159A-21B7-62995682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3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5A103-16BA-5C62-923B-96DB44DAB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A4FF9-825D-45FF-9EA9-8475AA6B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D7F41-5728-6740-A277-53ED0E97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91B97-ADC3-2217-9C02-7CBED154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0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F964B-9997-5565-A1E7-CA887D10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4624D-F5E4-F040-A554-2E5777C6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80CB2-0A04-AF45-17E7-00495029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4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7C25-6902-EC4E-3A3C-24CDE470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C61E5-4369-C77B-A784-4A0281006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D13AE-BBD1-694B-019F-2CAEE720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6DD22-DA8E-A5EC-85E2-59366843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F2485-3D26-484A-D219-77AD9845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59763-F73F-7118-4086-0D6BF7FA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8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6634-5BAD-D188-EE01-3B805CBA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43EB8-9384-9729-58CA-03DB1BBCB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2FA90-81B6-0A99-3F03-661D2895E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676F8-8E4F-5492-D5EF-999AA586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34406-7F9E-EE5B-F38E-BE0E50A3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6A9AF-479A-9C82-E445-28EC45A5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1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608A-FA73-7397-E83E-274091D2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4E0CA-0718-925B-CF76-36EBFFA51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9836C-2D84-B916-7214-0D12E11B0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7871-EBCE-72E0-6AB3-C0CBD757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82A4F-4E6F-0D5F-3FD9-E35F3D9E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6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B64F5-CBF3-83D4-4BE5-A0F74C8AC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D1BA0-0EEB-94C1-8E40-13B2B0123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08335-533E-AA54-73F0-73F60539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8D33-2CF8-32DB-2A86-3A468B89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3EF11-2057-256C-2A9A-39697880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7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F3946-A95F-D755-EDFB-70B16F65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662A9-F31C-DA00-73E0-896F5F8DA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5CAF6-DF85-735C-0391-5406C0A1D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3BE03-4B65-4014-BEE0-BCA9CCF0BDF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15C2C-F347-2E77-F21C-965A21438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41239-C469-81F8-1387-B6502604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B55E1-E84B-41E2-8EC9-70A780828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5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012D-589C-7F87-7259-9BCAEEC10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3578" y="1081032"/>
            <a:ext cx="10176387" cy="206477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Causal Inference  and Disentanglement Techniques for Robust Prediction Under Distribution Shift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11DD7-23B2-02B4-09B8-91C1FA7F7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5690"/>
            <a:ext cx="9144000" cy="902110"/>
          </a:xfrm>
        </p:spPr>
        <p:txBody>
          <a:bodyPr>
            <a:normAutofit/>
          </a:bodyPr>
          <a:lstStyle/>
          <a:p>
            <a:r>
              <a:rPr lang="en-US" dirty="0"/>
              <a:t>Zahra Rahiminasab</a:t>
            </a:r>
          </a:p>
        </p:txBody>
      </p:sp>
    </p:spTree>
    <p:extLst>
      <p:ext uri="{BB962C8B-B14F-4D97-AF65-F5344CB8AC3E}">
        <p14:creationId xmlns:p14="http://schemas.microsoft.com/office/powerpoint/2010/main" val="192058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9B6-639A-F78C-762C-FEC7623D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1" y="2635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Why Latent shift?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5C3B63-E927-4A22-AB6E-BA2310453002}"/>
              </a:ext>
            </a:extLst>
          </p:cNvPr>
          <p:cNvSpPr/>
          <p:nvPr/>
        </p:nvSpPr>
        <p:spPr>
          <a:xfrm>
            <a:off x="2600631" y="251156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CAB330-EC97-102A-CB39-70E2072C4C70}"/>
              </a:ext>
            </a:extLst>
          </p:cNvPr>
          <p:cNvSpPr/>
          <p:nvPr/>
        </p:nvSpPr>
        <p:spPr>
          <a:xfrm>
            <a:off x="1370370" y="251156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1B637D-80DA-25E0-2B97-E74844BDDC1D}"/>
              </a:ext>
            </a:extLst>
          </p:cNvPr>
          <p:cNvCxnSpPr>
            <a:stCxn id="6" idx="6"/>
            <a:endCxn id="5" idx="2"/>
          </p:cNvCxnSpPr>
          <p:nvPr/>
        </p:nvCxnSpPr>
        <p:spPr>
          <a:xfrm>
            <a:off x="2068461" y="2885189"/>
            <a:ext cx="532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7C246ED-967B-0E7E-A424-5EE50491D180}"/>
              </a:ext>
            </a:extLst>
          </p:cNvPr>
          <p:cNvSpPr/>
          <p:nvPr/>
        </p:nvSpPr>
        <p:spPr>
          <a:xfrm>
            <a:off x="6353141" y="2498864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ECE257-1488-E5F4-4566-B4E8371E78E8}"/>
              </a:ext>
            </a:extLst>
          </p:cNvPr>
          <p:cNvSpPr/>
          <p:nvPr/>
        </p:nvSpPr>
        <p:spPr>
          <a:xfrm>
            <a:off x="5122880" y="2498864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76ED89-8FB2-59F0-E7EF-6326070452BD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>
            <a:off x="5820971" y="2872490"/>
            <a:ext cx="532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708D908-A5EA-0A62-FF69-83C007E80B3B}"/>
              </a:ext>
            </a:extLst>
          </p:cNvPr>
          <p:cNvSpPr/>
          <p:nvPr/>
        </p:nvSpPr>
        <p:spPr>
          <a:xfrm>
            <a:off x="9591369" y="2412983"/>
            <a:ext cx="698091" cy="74725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1B718C-BBA9-ACE4-37E0-302BDC8EF58B}"/>
              </a:ext>
            </a:extLst>
          </p:cNvPr>
          <p:cNvSpPr/>
          <p:nvPr/>
        </p:nvSpPr>
        <p:spPr>
          <a:xfrm>
            <a:off x="8361108" y="241298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70E05-8C66-5474-95A1-C3CC24D3AC4C}"/>
              </a:ext>
            </a:extLst>
          </p:cNvPr>
          <p:cNvCxnSpPr>
            <a:stCxn id="13" idx="6"/>
            <a:endCxn id="12" idx="2"/>
          </p:cNvCxnSpPr>
          <p:nvPr/>
        </p:nvCxnSpPr>
        <p:spPr>
          <a:xfrm>
            <a:off x="9059199" y="2786609"/>
            <a:ext cx="532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2330F6-5D79-F886-49D1-86E3C600D1A3}"/>
              </a:ext>
            </a:extLst>
          </p:cNvPr>
          <p:cNvCxnSpPr>
            <a:cxnSpLocks/>
            <a:stCxn id="12" idx="3"/>
            <a:endCxn id="25" idx="0"/>
          </p:cNvCxnSpPr>
          <p:nvPr/>
        </p:nvCxnSpPr>
        <p:spPr>
          <a:xfrm flipH="1">
            <a:off x="9170035" y="3050802"/>
            <a:ext cx="523567" cy="585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EA0720-F50F-26AA-B919-DF55384D4B96}"/>
              </a:ext>
            </a:extLst>
          </p:cNvPr>
          <p:cNvCxnSpPr>
            <a:cxnSpLocks/>
            <a:stCxn id="12" idx="5"/>
            <a:endCxn id="26" idx="0"/>
          </p:cNvCxnSpPr>
          <p:nvPr/>
        </p:nvCxnSpPr>
        <p:spPr>
          <a:xfrm>
            <a:off x="10187227" y="3050802"/>
            <a:ext cx="585366" cy="593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5844A6-5FC0-8E27-506E-7757ABC9C49E}"/>
              </a:ext>
            </a:extLst>
          </p:cNvPr>
          <p:cNvCxnSpPr>
            <a:cxnSpLocks/>
            <a:stCxn id="12" idx="4"/>
            <a:endCxn id="30" idx="0"/>
          </p:cNvCxnSpPr>
          <p:nvPr/>
        </p:nvCxnSpPr>
        <p:spPr>
          <a:xfrm>
            <a:off x="9940415" y="3160235"/>
            <a:ext cx="61798" cy="1223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B054B56-0CA7-374A-B41F-AD159DD03286}"/>
              </a:ext>
            </a:extLst>
          </p:cNvPr>
          <p:cNvSpPr/>
          <p:nvPr/>
        </p:nvSpPr>
        <p:spPr>
          <a:xfrm>
            <a:off x="8820989" y="3636581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0BCA8C-B34E-04A9-C079-28B2B6796270}"/>
              </a:ext>
            </a:extLst>
          </p:cNvPr>
          <p:cNvSpPr/>
          <p:nvPr/>
        </p:nvSpPr>
        <p:spPr>
          <a:xfrm>
            <a:off x="10423547" y="364449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5C2B614-622C-BB2A-BB8E-07D718A80EEE}"/>
              </a:ext>
            </a:extLst>
          </p:cNvPr>
          <p:cNvSpPr/>
          <p:nvPr/>
        </p:nvSpPr>
        <p:spPr>
          <a:xfrm>
            <a:off x="9653167" y="438383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0BDDCD-858E-8DB0-64C3-DE938B3E987E}"/>
              </a:ext>
            </a:extLst>
          </p:cNvPr>
          <p:cNvCxnSpPr>
            <a:cxnSpLocks/>
            <a:stCxn id="25" idx="4"/>
            <a:endCxn id="30" idx="2"/>
          </p:cNvCxnSpPr>
          <p:nvPr/>
        </p:nvCxnSpPr>
        <p:spPr>
          <a:xfrm>
            <a:off x="9170035" y="4383833"/>
            <a:ext cx="483132" cy="373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F23D0E0-CC31-7F8D-8503-ACA78D6CC606}"/>
              </a:ext>
            </a:extLst>
          </p:cNvPr>
          <p:cNvCxnSpPr>
            <a:cxnSpLocks/>
            <a:stCxn id="26" idx="4"/>
            <a:endCxn id="30" idx="6"/>
          </p:cNvCxnSpPr>
          <p:nvPr/>
        </p:nvCxnSpPr>
        <p:spPr>
          <a:xfrm flipH="1">
            <a:off x="10351258" y="4391745"/>
            <a:ext cx="421335" cy="365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E4A8037-6259-D2B3-4866-5599A5D56D5C}"/>
                  </a:ext>
                </a:extLst>
              </p:cNvPr>
              <p:cNvSpPr txBox="1"/>
              <p:nvPr/>
            </p:nvSpPr>
            <p:spPr>
              <a:xfrm>
                <a:off x="1671762" y="3496627"/>
                <a:ext cx="15568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P(X)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Q(X)</a:t>
                </a:r>
              </a:p>
              <a:p>
                <a:r>
                  <a:rPr lang="en-US" dirty="0"/>
                  <a:t>P(Y|X) =Q(Y|X)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E4A8037-6259-D2B3-4866-5599A5D56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762" y="3496627"/>
                <a:ext cx="1556836" cy="646331"/>
              </a:xfrm>
              <a:prstGeom prst="rect">
                <a:avLst/>
              </a:prstGeom>
              <a:blipFill>
                <a:blip r:embed="rId2"/>
                <a:stretch>
                  <a:fillRect l="-3125" t="-4717" r="-273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0AC4B38-C3DC-30C4-0234-8097E711A613}"/>
                  </a:ext>
                </a:extLst>
              </p:cNvPr>
              <p:cNvSpPr txBox="1"/>
              <p:nvPr/>
            </p:nvSpPr>
            <p:spPr>
              <a:xfrm>
                <a:off x="5347992" y="3558890"/>
                <a:ext cx="15649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P(Y)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Q(Y)</a:t>
                </a:r>
              </a:p>
              <a:p>
                <a:r>
                  <a:rPr lang="en-US" dirty="0"/>
                  <a:t>P(X|Y) =Q(X|Y)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0AC4B38-C3DC-30C4-0234-8097E711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992" y="3558890"/>
                <a:ext cx="1564916" cy="646331"/>
              </a:xfrm>
              <a:prstGeom prst="rect">
                <a:avLst/>
              </a:prstGeom>
              <a:blipFill>
                <a:blip r:embed="rId3"/>
                <a:stretch>
                  <a:fillRect l="-3113" t="-4717" r="-3113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43A14F47-DA3D-BDB4-24C5-8D2CCB44B165}"/>
              </a:ext>
            </a:extLst>
          </p:cNvPr>
          <p:cNvSpPr txBox="1"/>
          <p:nvPr/>
        </p:nvSpPr>
        <p:spPr>
          <a:xfrm>
            <a:off x="5311154" y="2001424"/>
            <a:ext cx="122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 shift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35DAF5-DE8F-B793-98E0-08E1BD881DCE}"/>
              </a:ext>
            </a:extLst>
          </p:cNvPr>
          <p:cNvSpPr txBox="1"/>
          <p:nvPr/>
        </p:nvSpPr>
        <p:spPr>
          <a:xfrm>
            <a:off x="1750487" y="1988913"/>
            <a:ext cx="1630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Covariate shift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205AF8-ED69-4554-97C1-35EC26C5874A}"/>
              </a:ext>
            </a:extLst>
          </p:cNvPr>
          <p:cNvSpPr txBox="1"/>
          <p:nvPr/>
        </p:nvSpPr>
        <p:spPr>
          <a:xfrm>
            <a:off x="9325284" y="1862603"/>
            <a:ext cx="130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 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724F916-EF3A-F341-710A-A45E17DA5CE3}"/>
                  </a:ext>
                </a:extLst>
              </p:cNvPr>
              <p:cNvSpPr txBox="1"/>
              <p:nvPr/>
            </p:nvSpPr>
            <p:spPr>
              <a:xfrm>
                <a:off x="9325284" y="5383182"/>
                <a:ext cx="164339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P(U)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Q(U)</a:t>
                </a:r>
              </a:p>
              <a:p>
                <a:r>
                  <a:rPr lang="en-US" dirty="0"/>
                  <a:t>P(R|U) =Q(R|U)</a:t>
                </a:r>
              </a:p>
              <a:p>
                <a:r>
                  <a:rPr lang="en-US" dirty="0"/>
                  <a:t>R={X,W,Y}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724F916-EF3A-F341-710A-A45E17DA5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284" y="5383182"/>
                <a:ext cx="1643399" cy="923330"/>
              </a:xfrm>
              <a:prstGeom prst="rect">
                <a:avLst/>
              </a:prstGeom>
              <a:blipFill>
                <a:blip r:embed="rId4"/>
                <a:stretch>
                  <a:fillRect l="-3346" t="-2632" r="-2602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3AB1F93E-2EEA-52A8-522D-A452254F1090}"/>
              </a:ext>
            </a:extLst>
          </p:cNvPr>
          <p:cNvSpPr txBox="1"/>
          <p:nvPr/>
        </p:nvSpPr>
        <p:spPr>
          <a:xfrm>
            <a:off x="10289460" y="2370756"/>
            <a:ext cx="1768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Cancer mic env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B89DD7-E618-CA34-B837-11F71F81D222}"/>
              </a:ext>
            </a:extLst>
          </p:cNvPr>
          <p:cNvSpPr txBox="1"/>
          <p:nvPr/>
        </p:nvSpPr>
        <p:spPr>
          <a:xfrm>
            <a:off x="10621040" y="3220890"/>
            <a:ext cx="1768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Tissue texture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20F14B-8F4C-DC3E-4E40-C848ADF261D3}"/>
              </a:ext>
            </a:extLst>
          </p:cNvPr>
          <p:cNvSpPr txBox="1"/>
          <p:nvPr/>
        </p:nvSpPr>
        <p:spPr>
          <a:xfrm>
            <a:off x="421335" y="2700523"/>
            <a:ext cx="99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Genes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41AF61-6125-5E6F-A74A-8A99670A33AE}"/>
              </a:ext>
            </a:extLst>
          </p:cNvPr>
          <p:cNvSpPr txBox="1"/>
          <p:nvPr/>
        </p:nvSpPr>
        <p:spPr>
          <a:xfrm>
            <a:off x="7506867" y="4761753"/>
            <a:ext cx="262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 program score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EE21F9-771F-004F-DBCC-48E19575A9B8}"/>
              </a:ext>
            </a:extLst>
          </p:cNvPr>
          <p:cNvSpPr txBox="1"/>
          <p:nvPr/>
        </p:nvSpPr>
        <p:spPr>
          <a:xfrm>
            <a:off x="8014472" y="3924434"/>
            <a:ext cx="99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Genes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81A869-90DB-D2DD-DB32-DB3EA9A13314}"/>
              </a:ext>
            </a:extLst>
          </p:cNvPr>
          <p:cNvSpPr txBox="1"/>
          <p:nvPr/>
        </p:nvSpPr>
        <p:spPr>
          <a:xfrm>
            <a:off x="2669501" y="2391568"/>
            <a:ext cx="2628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 </a:t>
            </a:r>
          </a:p>
          <a:p>
            <a:pPr algn="ctr"/>
            <a:r>
              <a:rPr lang="en-US" dirty="0"/>
              <a:t>program </a:t>
            </a:r>
          </a:p>
          <a:p>
            <a:pPr algn="ctr"/>
            <a:r>
              <a:rPr lang="en-US" dirty="0"/>
              <a:t>score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C0C48B-C6D4-16D5-6F15-15024C43611C}"/>
              </a:ext>
            </a:extLst>
          </p:cNvPr>
          <p:cNvSpPr txBox="1"/>
          <p:nvPr/>
        </p:nvSpPr>
        <p:spPr>
          <a:xfrm>
            <a:off x="7339783" y="2069708"/>
            <a:ext cx="1768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Cancer stage</a:t>
            </a:r>
          </a:p>
        </p:txBody>
      </p:sp>
    </p:spTree>
    <p:extLst>
      <p:ext uri="{BB962C8B-B14F-4D97-AF65-F5344CB8AC3E}">
        <p14:creationId xmlns:p14="http://schemas.microsoft.com/office/powerpoint/2010/main" val="290908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2" grpId="0" animBg="1"/>
      <p:bldP spid="13" grpId="0" animBg="1"/>
      <p:bldP spid="25" grpId="0" animBg="1"/>
      <p:bldP spid="26" grpId="0" animBg="1"/>
      <p:bldP spid="30" grpId="0" animBg="1"/>
      <p:bldP spid="46" grpId="0"/>
      <p:bldP spid="4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C051-7352-5DF3-909A-4D51AA00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Proximal causal inference  (PCI)</a:t>
            </a:r>
            <a:br>
              <a:rPr lang="en-US" dirty="0"/>
            </a:br>
            <a:r>
              <a:rPr lang="en-US" dirty="0"/>
              <a:t> handles shift in latent confounders?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36DB6-D327-D9E3-0625-9C581C540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6923"/>
                <a:ext cx="9616609" cy="4351338"/>
              </a:xfr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Optimal predictor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</m:sub>
                      <m:sup/>
                      <m:e>
                        <m:nary>
                          <m:naryPr>
                            <m:limLoc m:val="undOv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𝒲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𝑑𝑤𝑑𝑢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𝒲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Eh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Eh</m:t>
                    </m:r>
                  </m:oMath>
                </a14:m>
                <a:r>
                  <a:rPr lang="en-US" dirty="0"/>
                  <a:t> has unique solution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Proxies are informative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                               enough (captures 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                                variation in U)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36DB6-D327-D9E3-0625-9C581C540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6923"/>
                <a:ext cx="9616609" cy="4351338"/>
              </a:xfrm>
              <a:blipFill>
                <a:blip r:embed="rId2"/>
                <a:stretch>
                  <a:fillRect l="-950" t="-1955" b="-349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DDDF8AB1-EA17-E017-99CD-688EE780BFBE}"/>
              </a:ext>
            </a:extLst>
          </p:cNvPr>
          <p:cNvSpPr/>
          <p:nvPr/>
        </p:nvSpPr>
        <p:spPr>
          <a:xfrm>
            <a:off x="10269795" y="2118016"/>
            <a:ext cx="698091" cy="74725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C8798A-8A91-1129-34EF-2F640FDB21E1}"/>
              </a:ext>
            </a:extLst>
          </p:cNvPr>
          <p:cNvSpPr/>
          <p:nvPr/>
        </p:nvSpPr>
        <p:spPr>
          <a:xfrm>
            <a:off x="9039534" y="2118016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346E7D-F101-91E1-7151-2E3722896CF9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9737625" y="2491642"/>
            <a:ext cx="532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6E2789-E892-CDF8-8B93-ADCA1B8D9936}"/>
              </a:ext>
            </a:extLst>
          </p:cNvPr>
          <p:cNvCxnSpPr>
            <a:cxnSpLocks/>
            <a:stCxn id="4" idx="3"/>
            <a:endCxn id="10" idx="0"/>
          </p:cNvCxnSpPr>
          <p:nvPr/>
        </p:nvCxnSpPr>
        <p:spPr>
          <a:xfrm flipH="1">
            <a:off x="9848461" y="2755835"/>
            <a:ext cx="523567" cy="585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0EE776-F78C-A3C4-B5EF-7C1EFF247C16}"/>
              </a:ext>
            </a:extLst>
          </p:cNvPr>
          <p:cNvCxnSpPr>
            <a:cxnSpLocks/>
            <a:stCxn id="4" idx="5"/>
            <a:endCxn id="11" idx="0"/>
          </p:cNvCxnSpPr>
          <p:nvPr/>
        </p:nvCxnSpPr>
        <p:spPr>
          <a:xfrm>
            <a:off x="10865653" y="2755835"/>
            <a:ext cx="585366" cy="593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B404D1-FA00-7C96-690F-EF32242D23CD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10618841" y="2865268"/>
            <a:ext cx="61798" cy="1223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D6A5CAC-891C-AF91-F48C-8107FE8B4BA7}"/>
              </a:ext>
            </a:extLst>
          </p:cNvPr>
          <p:cNvSpPr/>
          <p:nvPr/>
        </p:nvSpPr>
        <p:spPr>
          <a:xfrm>
            <a:off x="9499415" y="3341614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4394C0-E089-CC3A-4AC0-AB1FA6A3D26C}"/>
              </a:ext>
            </a:extLst>
          </p:cNvPr>
          <p:cNvSpPr/>
          <p:nvPr/>
        </p:nvSpPr>
        <p:spPr>
          <a:xfrm>
            <a:off x="11101973" y="3349526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FF38D0-9BBE-7CE1-86F4-938B51484552}"/>
              </a:ext>
            </a:extLst>
          </p:cNvPr>
          <p:cNvSpPr/>
          <p:nvPr/>
        </p:nvSpPr>
        <p:spPr>
          <a:xfrm>
            <a:off x="10331593" y="4088866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975EE8-02F7-D827-6E26-368658745FD1}"/>
              </a:ext>
            </a:extLst>
          </p:cNvPr>
          <p:cNvCxnSpPr>
            <a:cxnSpLocks/>
            <a:stCxn id="10" idx="4"/>
            <a:endCxn id="12" idx="2"/>
          </p:cNvCxnSpPr>
          <p:nvPr/>
        </p:nvCxnSpPr>
        <p:spPr>
          <a:xfrm>
            <a:off x="9848461" y="4088866"/>
            <a:ext cx="483132" cy="373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782B4D-F077-33C6-EBCF-27EC39796ADC}"/>
              </a:ext>
            </a:extLst>
          </p:cNvPr>
          <p:cNvCxnSpPr>
            <a:cxnSpLocks/>
            <a:stCxn id="11" idx="4"/>
            <a:endCxn id="12" idx="6"/>
          </p:cNvCxnSpPr>
          <p:nvPr/>
        </p:nvCxnSpPr>
        <p:spPr>
          <a:xfrm flipH="1">
            <a:off x="11029684" y="4096778"/>
            <a:ext cx="421335" cy="365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AAC179-D4A1-E0FD-0218-C4D02E3AFBB3}"/>
              </a:ext>
            </a:extLst>
          </p:cNvPr>
          <p:cNvCxnSpPr>
            <a:cxnSpLocks/>
          </p:cNvCxnSpPr>
          <p:nvPr/>
        </p:nvCxnSpPr>
        <p:spPr>
          <a:xfrm flipH="1">
            <a:off x="5486924" y="3097161"/>
            <a:ext cx="794493" cy="28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1C7F4F-D3B9-E819-03B1-4204A25EB24B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6466431" y="3097161"/>
            <a:ext cx="327744" cy="256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F0C63F-A16D-B3FD-C1D4-BD747529F5D5}"/>
              </a:ext>
            </a:extLst>
          </p:cNvPr>
          <p:cNvSpPr txBox="1"/>
          <p:nvPr/>
        </p:nvSpPr>
        <p:spPr>
          <a:xfrm>
            <a:off x="3779324" y="3334347"/>
            <a:ext cx="2614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Conditional expectation </a:t>
            </a:r>
            <a:br>
              <a:rPr lang="en-US" dirty="0"/>
            </a:br>
            <a:r>
              <a:rPr lang="en-US" dirty="0"/>
              <a:t>operator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B2EAA9-27B7-732B-B9CA-7A261566C831}"/>
              </a:ext>
            </a:extLst>
          </p:cNvPr>
          <p:cNvSpPr txBox="1"/>
          <p:nvPr/>
        </p:nvSpPr>
        <p:spPr>
          <a:xfrm>
            <a:off x="6287465" y="3353820"/>
            <a:ext cx="1013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Bridge</a:t>
            </a:r>
          </a:p>
          <a:p>
            <a:pPr algn="ctr"/>
            <a:r>
              <a:rPr lang="en-US" dirty="0"/>
              <a:t>function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7C26495-0496-0923-CD7F-06C81366A8F1}"/>
              </a:ext>
            </a:extLst>
          </p:cNvPr>
          <p:cNvSpPr/>
          <p:nvPr/>
        </p:nvSpPr>
        <p:spPr>
          <a:xfrm>
            <a:off x="4198374" y="5889523"/>
            <a:ext cx="2281084" cy="75708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 is injective</a:t>
            </a:r>
          </a:p>
        </p:txBody>
      </p:sp>
    </p:spTree>
    <p:extLst>
      <p:ext uri="{BB962C8B-B14F-4D97-AF65-F5344CB8AC3E}">
        <p14:creationId xmlns:p14="http://schemas.microsoft.com/office/powerpoint/2010/main" val="315665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4B67-6763-B88E-2EB6-36E47E4A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 when completeness does not hold in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F0531-EA17-C985-7C5C-EA9393650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Latent equivalent classes (LECs):</a:t>
                </a:r>
              </a:p>
              <a:p>
                <a:pPr lvl="1"/>
                <a:r>
                  <a:rPr lang="en-US" dirty="0"/>
                  <a:t>Proxies provide natural partition in latent space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Decomposing conditional distribution P(W|X,Z) at LEC level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F0531-EA17-C985-7C5C-EA9393650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9FC1C6E-E1DA-8273-EC26-B8EB881AF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28" y="2801540"/>
            <a:ext cx="10564972" cy="593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9C9E40-0511-20C7-80E1-A2F587A0D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189" y="4008668"/>
            <a:ext cx="4248743" cy="704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D1B0D1-C7A6-528C-6090-EF12542A69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159" y="5125838"/>
            <a:ext cx="2610214" cy="24768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FFB663-5E5B-DF2B-59F9-4A5B8C12183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443019" y="4508066"/>
            <a:ext cx="996247" cy="617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CD975C-D5F4-E520-A685-A9C32F1D442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5667490" y="4493342"/>
            <a:ext cx="1097104" cy="551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50ED037-0E0A-697D-43D8-23F7B16BC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541" y="5045184"/>
            <a:ext cx="1771897" cy="2667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E7FFAB-1F90-61D6-48E0-B98CA6B70E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733" y="5073251"/>
            <a:ext cx="1590897" cy="276264"/>
          </a:xfrm>
          <a:prstGeom prst="rect">
            <a:avLst/>
          </a:prstGeom>
        </p:spPr>
      </p:pic>
      <p:sp>
        <p:nvSpPr>
          <p:cNvPr id="20" name="Left Brace 19">
            <a:extLst>
              <a:ext uri="{FF2B5EF4-FFF2-40B4-BE49-F238E27FC236}">
                <a16:creationId xmlns:a16="http://schemas.microsoft.com/office/drawing/2014/main" id="{270CAEBF-B38D-0423-8244-13094A0F9C91}"/>
              </a:ext>
            </a:extLst>
          </p:cNvPr>
          <p:cNvSpPr/>
          <p:nvPr/>
        </p:nvSpPr>
        <p:spPr>
          <a:xfrm rot="16200000">
            <a:off x="8266900" y="4240782"/>
            <a:ext cx="344732" cy="261021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D0B8F6-29E0-1269-137A-17E1BB175BC7}"/>
              </a:ext>
            </a:extLst>
          </p:cNvPr>
          <p:cNvSpPr txBox="1"/>
          <p:nvPr/>
        </p:nvSpPr>
        <p:spPr>
          <a:xfrm>
            <a:off x="7049729" y="5668527"/>
            <a:ext cx="2919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invariant term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3750D8BE-E489-ED0B-80AE-D0675ADB8883}"/>
              </a:ext>
            </a:extLst>
          </p:cNvPr>
          <p:cNvSpPr/>
          <p:nvPr/>
        </p:nvSpPr>
        <p:spPr>
          <a:xfrm rot="16200000">
            <a:off x="4662704" y="3807447"/>
            <a:ext cx="589934" cy="337787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390F02-E902-A7EE-682B-C838F83813E1}"/>
              </a:ext>
            </a:extLst>
          </p:cNvPr>
          <p:cNvSpPr txBox="1"/>
          <p:nvPr/>
        </p:nvSpPr>
        <p:spPr>
          <a:xfrm>
            <a:off x="3497880" y="5741621"/>
            <a:ext cx="3370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dependent  term</a:t>
            </a:r>
          </a:p>
          <a:p>
            <a:r>
              <a:rPr lang="en-US" dirty="0"/>
              <a:t>Enough variation in environment</a:t>
            </a:r>
          </a:p>
          <a:p>
            <a:r>
              <a:rPr lang="en-US" dirty="0"/>
              <a:t>to capture different LECs </a:t>
            </a:r>
          </a:p>
        </p:txBody>
      </p:sp>
    </p:spTree>
    <p:extLst>
      <p:ext uri="{BB962C8B-B14F-4D97-AF65-F5344CB8AC3E}">
        <p14:creationId xmlns:p14="http://schemas.microsoft.com/office/powerpoint/2010/main" val="241919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6EDE-8453-98C4-008F-5F7118D7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Proximal Quasi-Bayesian Active Learning (PQAL) PQAL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36319-1A6A-3FD0-C578-A30702929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382" y="1563789"/>
            <a:ext cx="9569711" cy="529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9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02E0-5BF4-83FF-CD9D-B4FDD521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2D438-CF78-E2C3-CD5E-E49E01611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979" y="1970122"/>
            <a:ext cx="6325321" cy="3648584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D622CFE-B230-E893-BEA1-10283D67E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1" y="3794414"/>
            <a:ext cx="2657846" cy="10383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A9FC5D-B3AE-4058-D405-6CD7F7934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0" y="2413096"/>
            <a:ext cx="4296793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9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E61E-23E6-CB09-8E53-C35C53FF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Disentanglement of latent space of Beta-VAE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7B21B-D53E-79B6-F2C9-5025FF6F8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05" y="1690688"/>
            <a:ext cx="9617914" cy="448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6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1B43-73C8-6C99-928E-ACBABCB9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informative dimensions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42941-95CF-0BDD-CB13-19BC377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88" y="1746715"/>
            <a:ext cx="9857433" cy="468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8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5FEF-5A61-34B4-A214-81AE666B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Martingale for change point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EFE69-F720-43A0-B9E2-5BFAC0594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264" y="1795667"/>
            <a:ext cx="7826477" cy="479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4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D04A-229D-821F-48DB-2F256929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to connect current research to niche identification or genomic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608E-5873-7378-F20C-9A7AB5461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Addressing latent shift in presence of imperfect proxies</a:t>
            </a:r>
          </a:p>
          <a:p>
            <a:r>
              <a:rPr lang="en-US"/>
              <a:t>Creating </a:t>
            </a:r>
            <a:r>
              <a:rPr lang="en-US" dirty="0"/>
              <a:t>robust models that provide</a:t>
            </a:r>
          </a:p>
          <a:p>
            <a:pPr marL="0" indent="0">
              <a:buNone/>
            </a:pPr>
            <a:r>
              <a:rPr lang="en-US" dirty="0"/>
              <a:t>  identifiable average treatment  effect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CAA730-E122-3FCB-F7A2-9A81BAAE98E5}"/>
              </a:ext>
            </a:extLst>
          </p:cNvPr>
          <p:cNvSpPr/>
          <p:nvPr/>
        </p:nvSpPr>
        <p:spPr>
          <a:xfrm>
            <a:off x="9591369" y="2412983"/>
            <a:ext cx="698091" cy="74725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26C1AD-9294-84D5-48EE-339EAB60DA10}"/>
              </a:ext>
            </a:extLst>
          </p:cNvPr>
          <p:cNvSpPr/>
          <p:nvPr/>
        </p:nvSpPr>
        <p:spPr>
          <a:xfrm>
            <a:off x="8361108" y="241298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82851A-3E25-C170-3DB7-91818957E2CC}"/>
              </a:ext>
            </a:extLst>
          </p:cNvPr>
          <p:cNvCxnSpPr>
            <a:stCxn id="5" idx="6"/>
            <a:endCxn id="4" idx="2"/>
          </p:cNvCxnSpPr>
          <p:nvPr/>
        </p:nvCxnSpPr>
        <p:spPr>
          <a:xfrm>
            <a:off x="9059199" y="2786609"/>
            <a:ext cx="532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13C7C7-0111-1113-444B-0DC36108417C}"/>
              </a:ext>
            </a:extLst>
          </p:cNvPr>
          <p:cNvCxnSpPr>
            <a:cxnSpLocks/>
            <a:stCxn id="4" idx="3"/>
            <a:endCxn id="10" idx="0"/>
          </p:cNvCxnSpPr>
          <p:nvPr/>
        </p:nvCxnSpPr>
        <p:spPr>
          <a:xfrm flipH="1">
            <a:off x="9170035" y="3050802"/>
            <a:ext cx="523567" cy="585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539E9B-2441-223E-F786-60D37AD77393}"/>
              </a:ext>
            </a:extLst>
          </p:cNvPr>
          <p:cNvCxnSpPr>
            <a:cxnSpLocks/>
            <a:stCxn id="4" idx="5"/>
            <a:endCxn id="11" idx="0"/>
          </p:cNvCxnSpPr>
          <p:nvPr/>
        </p:nvCxnSpPr>
        <p:spPr>
          <a:xfrm>
            <a:off x="10187227" y="3050802"/>
            <a:ext cx="585366" cy="593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B9C97A-D9B3-C357-A39A-7E849C2C1F95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9940415" y="3160235"/>
            <a:ext cx="61798" cy="1223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79CFF1B-590B-C662-2A30-2FB8E9BE7522}"/>
              </a:ext>
            </a:extLst>
          </p:cNvPr>
          <p:cNvSpPr/>
          <p:nvPr/>
        </p:nvSpPr>
        <p:spPr>
          <a:xfrm>
            <a:off x="8820989" y="3636581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F2D559-A082-03AC-A1A3-84EB0FFB2517}"/>
              </a:ext>
            </a:extLst>
          </p:cNvPr>
          <p:cNvSpPr/>
          <p:nvPr/>
        </p:nvSpPr>
        <p:spPr>
          <a:xfrm>
            <a:off x="10423547" y="364449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5C469E-70DE-A4A6-CA6F-58143A6F2E11}"/>
              </a:ext>
            </a:extLst>
          </p:cNvPr>
          <p:cNvSpPr/>
          <p:nvPr/>
        </p:nvSpPr>
        <p:spPr>
          <a:xfrm>
            <a:off x="9653167" y="4383833"/>
            <a:ext cx="698091" cy="7472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FB8B52-BD3F-FC13-17C4-1CF17DCE0152}"/>
              </a:ext>
            </a:extLst>
          </p:cNvPr>
          <p:cNvCxnSpPr>
            <a:cxnSpLocks/>
            <a:stCxn id="10" idx="4"/>
            <a:endCxn id="12" idx="2"/>
          </p:cNvCxnSpPr>
          <p:nvPr/>
        </p:nvCxnSpPr>
        <p:spPr>
          <a:xfrm>
            <a:off x="9170035" y="4383833"/>
            <a:ext cx="483132" cy="373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61EF68-6F0C-D1AA-BF4C-0D8D835A5BC0}"/>
              </a:ext>
            </a:extLst>
          </p:cNvPr>
          <p:cNvCxnSpPr>
            <a:cxnSpLocks/>
            <a:stCxn id="11" idx="4"/>
            <a:endCxn id="12" idx="6"/>
          </p:cNvCxnSpPr>
          <p:nvPr/>
        </p:nvCxnSpPr>
        <p:spPr>
          <a:xfrm flipH="1">
            <a:off x="10351258" y="4391745"/>
            <a:ext cx="421335" cy="365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15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908FBE-17B0-9E83-EB1C-1E6E38DC565C}"/>
              </a:ext>
            </a:extLst>
          </p:cNvPr>
          <p:cNvSpPr txBox="1"/>
          <p:nvPr/>
        </p:nvSpPr>
        <p:spPr>
          <a:xfrm>
            <a:off x="4837470" y="2615382"/>
            <a:ext cx="60173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Q &amp;A</a:t>
            </a:r>
          </a:p>
        </p:txBody>
      </p:sp>
    </p:spTree>
    <p:extLst>
      <p:ext uri="{BB962C8B-B14F-4D97-AF65-F5344CB8AC3E}">
        <p14:creationId xmlns:p14="http://schemas.microsoft.com/office/powerpoint/2010/main" val="89709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300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Causal Inference  and Disentanglement Techniques for Robust Prediction Under Distribution Shift </vt:lpstr>
      <vt:lpstr>Why Latent shift?</vt:lpstr>
      <vt:lpstr>How Proximal causal inference  (PCI)  handles shift in latent confounders? </vt:lpstr>
      <vt:lpstr>Our solution when completeness does not hold in practice</vt:lpstr>
      <vt:lpstr>Proximal Quasi-Bayesian Active Learning (PQAL) PQAL </vt:lpstr>
      <vt:lpstr>Experiments</vt:lpstr>
      <vt:lpstr>Disentanglement of latent space of Beta-VAE</vt:lpstr>
      <vt:lpstr>Most informative dimensions</vt:lpstr>
      <vt:lpstr>Martingale for change point detection</vt:lpstr>
      <vt:lpstr>Next steps to connect current research to niche identification or genomic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RahimiNasab Zahra</dc:creator>
  <cp:lastModifiedBy>RahimiNasab Zahra</cp:lastModifiedBy>
  <cp:revision>9</cp:revision>
  <dcterms:created xsi:type="dcterms:W3CDTF">2026-02-07T11:10:05Z</dcterms:created>
  <dcterms:modified xsi:type="dcterms:W3CDTF">2026-02-10T20:10:09Z</dcterms:modified>
</cp:coreProperties>
</file>